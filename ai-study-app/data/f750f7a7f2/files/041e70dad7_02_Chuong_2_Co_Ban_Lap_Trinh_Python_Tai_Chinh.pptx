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tableStyles.xml" ContentType="application/vnd.openxmlformats-officedocument.presentationml.tableStyl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slides/slide30.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1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5.xml" ContentType="application/vnd.openxmlformats-officedocument.presentationml.slide+xml"/>
  <Override PartName="/ppt/slides/slide25.xml" ContentType="application/vnd.openxmlformats-officedocument.presentationml.slide+xml"/>
  <Override PartName="/ppt/slides/slide39.xml" ContentType="application/vnd.openxmlformats-officedocument.presentationml.slide+xml"/>
  <Override PartName="/ppt/slides/slide29.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slides/slide36.xml" ContentType="application/vnd.openxmlformats-officedocument.presentationml.slide+xml"/>
  <Override PartName="/ppt/slides/slide26.xml" ContentType="application/vnd.openxmlformats-officedocument.presentationml.slide+xml"/>
  <Override PartName="/ppt/viewProps.xml" ContentType="application/vnd.openxmlformats-officedocument.presentationml.viewProps+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notesSlides/notesSlide23.xml" ContentType="application/vnd.openxmlformats-officedocument.presentationml.notesSlide+xml"/>
  <Override PartName="/ppt/notesSlides/notesSlide39.xml" ContentType="application/vnd.openxmlformats-officedocument.presentationml.notesSlide+xml"/>
  <Override PartName="/ppt/notesSlides/notesSlide28.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notesSlides/notesSlide36.xml" ContentType="application/vnd.openxmlformats-officedocument.presentationml.notesSlide+xml"/>
  <Override PartName="/ppt/notesMasters/notesMaster1.xml" ContentType="application/vnd.openxmlformats-officedocument.presentationml.notesMaster+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42" Type="http://schemas.openxmlformats.org/officeDocument/2006/relationships/viewProps" Target="viewProps.xml"/><Relationship Id="rId39" Type="http://schemas.openxmlformats.org/officeDocument/2006/relationships/slide" Target="slides/slide38.xml"/><Relationship Id="rId21" Type="http://schemas.openxmlformats.org/officeDocument/2006/relationships/slide" Target="slides/slide20.xml"/><Relationship Id="rId42" Type="http://schemas.openxmlformats.org/officeDocument/2006/relationships/slide" Target="slides/slide41.xml"/><Relationship Id="rId34" Type="http://schemas.openxmlformats.org/officeDocument/2006/relationships/slide" Target="slides/slide33.xml"/><Relationship Id="rId141" Type="http://schemas.openxmlformats.org/officeDocument/2006/relationships/presProps" Target="presProps.xml"/><Relationship Id="rId146" Type="http://schemas.openxmlformats.org/officeDocument/2006/relationships/customXml" Target="../customXml/item2.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140" Type="http://schemas.openxmlformats.org/officeDocument/2006/relationships/notesMaster" Target="notesMasters/notesMaster1.xml"/><Relationship Id="rId29" Type="http://schemas.openxmlformats.org/officeDocument/2006/relationships/slide" Target="slides/slide28.xml"/><Relationship Id="rId145" Type="http://schemas.openxmlformats.org/officeDocument/2006/relationships/customXml" Target="../customXml/item1.xml"/><Relationship Id="rId32" Type="http://schemas.openxmlformats.org/officeDocument/2006/relationships/slide" Target="slides/slide31.xml"/><Relationship Id="rId37" Type="http://schemas.openxmlformats.org/officeDocument/2006/relationships/slide" Target="slides/slide36.xml"/><Relationship Id="rId144" Type="http://schemas.openxmlformats.org/officeDocument/2006/relationships/tableStyles" Target="tableStyles.xml"/><Relationship Id="rId1" Type="http://schemas.openxmlformats.org/officeDocument/2006/relationships/slideMaster" Target="slideMasters/slideMaster1.xml"/><Relationship Id="rId24" Type="http://schemas.openxmlformats.org/officeDocument/2006/relationships/slide" Target="slides/slide23.xml"/><Relationship Id="rId40" Type="http://schemas.openxmlformats.org/officeDocument/2006/relationships/slide" Target="slides/slide39.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31" Type="http://schemas.openxmlformats.org/officeDocument/2006/relationships/slide" Target="slides/slide30.xml"/><Relationship Id="rId143"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4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625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E3F"/>
          </a:solidFill>
          <a:ln/>
        </p:spPr>
        <p:txBody>
          <a:bodyPr/>
          <a:lstStyle/>
          <a:p>
            <a:endParaRPr lang="fr-FR"/>
          </a:p>
        </p:txBody>
      </p:sp>
      <p:sp>
        <p:nvSpPr>
          <p:cNvPr id="3" name="Shape 1"/>
          <p:cNvSpPr/>
          <p:nvPr/>
        </p:nvSpPr>
        <p:spPr>
          <a:xfrm>
            <a:off x="0" y="0"/>
            <a:ext cx="2926080" cy="6858000"/>
          </a:xfrm>
          <a:prstGeom prst="rect">
            <a:avLst/>
          </a:prstGeom>
          <a:solidFill>
            <a:srgbClr val="132A52"/>
          </a:solidFill>
          <a:ln/>
        </p:spPr>
        <p:txBody>
          <a:bodyPr/>
          <a:lstStyle/>
          <a:p>
            <a:endParaRPr lang="fr-FR"/>
          </a:p>
        </p:txBody>
      </p:sp>
      <p:sp>
        <p:nvSpPr>
          <p:cNvPr id="4" name="Text 2"/>
          <p:cNvSpPr/>
          <p:nvPr/>
        </p:nvSpPr>
        <p:spPr>
          <a:xfrm>
            <a:off x="457200" y="2148840"/>
            <a:ext cx="2011680" cy="365760"/>
          </a:xfrm>
          <a:prstGeom prst="rect">
            <a:avLst/>
          </a:prstGeom>
          <a:noFill/>
          <a:ln/>
        </p:spPr>
        <p:txBody>
          <a:bodyPr wrap="square" rtlCol="0" anchor="ctr"/>
          <a:lstStyle/>
          <a:p>
            <a:pPr marL="0" indent="0">
              <a:buNone/>
            </a:pPr>
            <a:r>
              <a:rPr lang="en-US" sz="1400" b="1" kern="0" spc="200" dirty="0">
                <a:solidFill>
                  <a:srgbClr val="0FBFA6"/>
                </a:solidFill>
                <a:latin typeface="Arial" pitchFamily="34" charset="0"/>
                <a:ea typeface="Arial" pitchFamily="34" charset="-122"/>
                <a:cs typeface="Arial" pitchFamily="34" charset="-120"/>
              </a:rPr>
              <a:t>CHƯƠNG</a:t>
            </a:r>
            <a:endParaRPr lang="en-US" sz="1400" dirty="0"/>
          </a:p>
        </p:txBody>
      </p:sp>
      <p:sp>
        <p:nvSpPr>
          <p:cNvPr id="5" name="Text 3"/>
          <p:cNvSpPr/>
          <p:nvPr/>
        </p:nvSpPr>
        <p:spPr>
          <a:xfrm>
            <a:off x="365760" y="2423160"/>
            <a:ext cx="2194560" cy="1463040"/>
          </a:xfrm>
          <a:prstGeom prst="rect">
            <a:avLst/>
          </a:prstGeom>
          <a:noFill/>
          <a:ln/>
        </p:spPr>
        <p:txBody>
          <a:bodyPr wrap="square" rtlCol="0" anchor="ctr"/>
          <a:lstStyle/>
          <a:p>
            <a:pPr marL="0" indent="0">
              <a:buNone/>
            </a:pPr>
            <a:r>
              <a:rPr lang="en-US" sz="8000" b="1" dirty="0">
                <a:solidFill>
                  <a:srgbClr val="FFFFFF"/>
                </a:solidFill>
                <a:latin typeface="Arial" pitchFamily="34" charset="0"/>
                <a:ea typeface="Arial" pitchFamily="34" charset="-122"/>
                <a:cs typeface="Arial" pitchFamily="34" charset="-120"/>
              </a:rPr>
              <a:t>02</a:t>
            </a:r>
            <a:endParaRPr lang="en-US" sz="8000" dirty="0"/>
          </a:p>
        </p:txBody>
      </p:sp>
      <p:sp>
        <p:nvSpPr>
          <p:cNvPr id="6" name="Text 4"/>
          <p:cNvSpPr/>
          <p:nvPr/>
        </p:nvSpPr>
        <p:spPr>
          <a:xfrm>
            <a:off x="320040" y="4114800"/>
            <a:ext cx="2377440" cy="548640"/>
          </a:xfrm>
          <a:prstGeom prst="rect">
            <a:avLst/>
          </a:prstGeom>
          <a:noFill/>
          <a:ln/>
        </p:spPr>
        <p:txBody>
          <a:bodyPr wrap="square" rtlCol="0" anchor="ctr"/>
          <a:lstStyle/>
          <a:p>
            <a:pPr marL="0" indent="0">
              <a:buNone/>
            </a:pPr>
            <a:r>
              <a:rPr lang="en-US" sz="1100" b="1" kern="0" spc="100" dirty="0">
                <a:solidFill>
                  <a:srgbClr val="C9A227"/>
                </a:solidFill>
                <a:latin typeface="Arial" pitchFamily="34" charset="0"/>
                <a:ea typeface="Arial" pitchFamily="34" charset="-122"/>
                <a:cs typeface="Arial" pitchFamily="34" charset="-120"/>
              </a:rPr>
              <a:t>3 TIẾT LÝ THUYẾT</a:t>
            </a:r>
            <a:endParaRPr lang="en-US" sz="1100" dirty="0"/>
          </a:p>
        </p:txBody>
      </p:sp>
      <p:sp>
        <p:nvSpPr>
          <p:cNvPr id="7" name="Text 5"/>
          <p:cNvSpPr/>
          <p:nvPr/>
        </p:nvSpPr>
        <p:spPr>
          <a:xfrm>
            <a:off x="3291840" y="2240280"/>
            <a:ext cx="8321040" cy="1554480"/>
          </a:xfrm>
          <a:prstGeom prst="rect">
            <a:avLst/>
          </a:prstGeom>
          <a:noFill/>
          <a:ln/>
        </p:spPr>
        <p:txBody>
          <a:bodyPr wrap="square" rtlCol="0" anchor="t"/>
          <a:lstStyle/>
          <a:p>
            <a:pPr marL="0" indent="0">
              <a:buNone/>
            </a:pPr>
            <a:r>
              <a:rPr lang="en-US" sz="3000" b="1" dirty="0">
                <a:solidFill>
                  <a:srgbClr val="FFFFFF"/>
                </a:solidFill>
                <a:latin typeface="Arial" pitchFamily="34" charset="0"/>
                <a:ea typeface="Arial" pitchFamily="34" charset="-122"/>
                <a:cs typeface="Arial" pitchFamily="34" charset="-120"/>
              </a:rPr>
              <a:t>Cơ Bản Lập Trình Python Tài Chính</a:t>
            </a:r>
            <a:endParaRPr lang="en-US" sz="3000" dirty="0"/>
          </a:p>
        </p:txBody>
      </p:sp>
      <p:sp>
        <p:nvSpPr>
          <p:cNvPr id="8" name="Text 6"/>
          <p:cNvSpPr/>
          <p:nvPr/>
        </p:nvSpPr>
        <p:spPr>
          <a:xfrm>
            <a:off x="3291840" y="3429000"/>
            <a:ext cx="8321040" cy="109728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Kiểu dữ liệu, cấu trúc dữ liệu, cấu trúc điều khiển, và hàm — áp dụng trực tiếp vào bài toán tài chính.</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CHƯƠNG 2 · NỘI DUNG</a:t>
            </a:r>
            <a:endParaRPr lang="en-US" sz="1200" dirty="0"/>
          </a:p>
        </p:txBody>
      </p:sp>
      <p:sp>
        <p:nvSpPr>
          <p:cNvPr id="3" name="Text 1"/>
          <p:cNvSpPr/>
          <p:nvPr/>
        </p:nvSpPr>
        <p:spPr>
          <a:xfrm>
            <a:off x="640080" y="713232"/>
            <a:ext cx="10881360" cy="82296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Cơ Bản Lập Trình Python Tài Chính</a:t>
            </a:r>
            <a:endParaRPr lang="en-US" sz="2500" dirty="0"/>
          </a:p>
        </p:txBody>
      </p:sp>
      <p:sp>
        <p:nvSpPr>
          <p:cNvPr id="4" name="Shape 2"/>
          <p:cNvSpPr/>
          <p:nvPr/>
        </p:nvSpPr>
        <p:spPr>
          <a:xfrm>
            <a:off x="640080" y="1828800"/>
            <a:ext cx="10881360" cy="548640"/>
          </a:xfrm>
          <a:prstGeom prst="rect">
            <a:avLst/>
          </a:prstGeom>
          <a:solidFill>
            <a:srgbClr val="F4F6F9"/>
          </a:solidFill>
          <a:ln/>
        </p:spPr>
        <p:txBody>
          <a:bodyPr/>
          <a:lstStyle/>
          <a:p>
            <a:endParaRPr lang="fr-FR"/>
          </a:p>
        </p:txBody>
      </p:sp>
      <p:sp>
        <p:nvSpPr>
          <p:cNvPr id="5" name="Text 3"/>
          <p:cNvSpPr/>
          <p:nvPr/>
        </p:nvSpPr>
        <p:spPr>
          <a:xfrm>
            <a:off x="822960" y="1828800"/>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2.1</a:t>
            </a:r>
            <a:endParaRPr lang="en-US" sz="1500" dirty="0"/>
          </a:p>
        </p:txBody>
      </p:sp>
      <p:sp>
        <p:nvSpPr>
          <p:cNvPr id="6" name="Text 4"/>
          <p:cNvSpPr/>
          <p:nvPr/>
        </p:nvSpPr>
        <p:spPr>
          <a:xfrm>
            <a:off x="1737360" y="1828800"/>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Kiểu dữ liệu trong tài chính</a:t>
            </a:r>
            <a:endParaRPr lang="en-US" sz="1400" dirty="0"/>
          </a:p>
        </p:txBody>
      </p:sp>
      <p:sp>
        <p:nvSpPr>
          <p:cNvPr id="7" name="Shape 5"/>
          <p:cNvSpPr/>
          <p:nvPr/>
        </p:nvSpPr>
        <p:spPr>
          <a:xfrm>
            <a:off x="640080" y="2487168"/>
            <a:ext cx="10881360" cy="548640"/>
          </a:xfrm>
          <a:prstGeom prst="rect">
            <a:avLst/>
          </a:prstGeom>
          <a:solidFill>
            <a:srgbClr val="F4F6F9"/>
          </a:solidFill>
          <a:ln/>
        </p:spPr>
        <p:txBody>
          <a:bodyPr/>
          <a:lstStyle/>
          <a:p>
            <a:endParaRPr lang="fr-FR"/>
          </a:p>
        </p:txBody>
      </p:sp>
      <p:sp>
        <p:nvSpPr>
          <p:cNvPr id="8" name="Text 6"/>
          <p:cNvSpPr/>
          <p:nvPr/>
        </p:nvSpPr>
        <p:spPr>
          <a:xfrm>
            <a:off x="822960" y="2487168"/>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2.2</a:t>
            </a:r>
            <a:endParaRPr lang="en-US" sz="1500" dirty="0"/>
          </a:p>
        </p:txBody>
      </p:sp>
      <p:sp>
        <p:nvSpPr>
          <p:cNvPr id="9" name="Text 7"/>
          <p:cNvSpPr/>
          <p:nvPr/>
        </p:nvSpPr>
        <p:spPr>
          <a:xfrm>
            <a:off x="1737360" y="2487168"/>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Cấu trúc dữ liệu: List, Tuple, Dict, Set</a:t>
            </a:r>
            <a:endParaRPr lang="en-US" sz="1400" dirty="0"/>
          </a:p>
        </p:txBody>
      </p:sp>
      <p:sp>
        <p:nvSpPr>
          <p:cNvPr id="10" name="Shape 8"/>
          <p:cNvSpPr/>
          <p:nvPr/>
        </p:nvSpPr>
        <p:spPr>
          <a:xfrm>
            <a:off x="640080" y="3145536"/>
            <a:ext cx="10881360" cy="548640"/>
          </a:xfrm>
          <a:prstGeom prst="rect">
            <a:avLst/>
          </a:prstGeom>
          <a:solidFill>
            <a:srgbClr val="F4F6F9"/>
          </a:solidFill>
          <a:ln/>
        </p:spPr>
        <p:txBody>
          <a:bodyPr/>
          <a:lstStyle/>
          <a:p>
            <a:endParaRPr lang="fr-FR"/>
          </a:p>
        </p:txBody>
      </p:sp>
      <p:sp>
        <p:nvSpPr>
          <p:cNvPr id="11" name="Text 9"/>
          <p:cNvSpPr/>
          <p:nvPr/>
        </p:nvSpPr>
        <p:spPr>
          <a:xfrm>
            <a:off x="822960" y="3145536"/>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2.3</a:t>
            </a:r>
            <a:endParaRPr lang="en-US" sz="1500" dirty="0"/>
          </a:p>
        </p:txBody>
      </p:sp>
      <p:sp>
        <p:nvSpPr>
          <p:cNvPr id="12" name="Text 10"/>
          <p:cNvSpPr/>
          <p:nvPr/>
        </p:nvSpPr>
        <p:spPr>
          <a:xfrm>
            <a:off x="1737360" y="3145536"/>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Cấu trúc điều kiện và vòng lặp</a:t>
            </a:r>
            <a:endParaRPr lang="en-US" sz="1400" dirty="0"/>
          </a:p>
        </p:txBody>
      </p:sp>
      <p:sp>
        <p:nvSpPr>
          <p:cNvPr id="13" name="Shape 11"/>
          <p:cNvSpPr/>
          <p:nvPr/>
        </p:nvSpPr>
        <p:spPr>
          <a:xfrm>
            <a:off x="640080" y="3803904"/>
            <a:ext cx="10881360" cy="548640"/>
          </a:xfrm>
          <a:prstGeom prst="rect">
            <a:avLst/>
          </a:prstGeom>
          <a:solidFill>
            <a:srgbClr val="F4F6F9"/>
          </a:solidFill>
          <a:ln/>
        </p:spPr>
        <p:txBody>
          <a:bodyPr/>
          <a:lstStyle/>
          <a:p>
            <a:endParaRPr lang="fr-FR"/>
          </a:p>
        </p:txBody>
      </p:sp>
      <p:sp>
        <p:nvSpPr>
          <p:cNvPr id="14" name="Text 12"/>
          <p:cNvSpPr/>
          <p:nvPr/>
        </p:nvSpPr>
        <p:spPr>
          <a:xfrm>
            <a:off x="822960" y="3803904"/>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2.4</a:t>
            </a:r>
            <a:endParaRPr lang="en-US" sz="1500" dirty="0"/>
          </a:p>
        </p:txBody>
      </p:sp>
      <p:sp>
        <p:nvSpPr>
          <p:cNvPr id="15" name="Text 13"/>
          <p:cNvSpPr/>
          <p:nvPr/>
        </p:nvSpPr>
        <p:spPr>
          <a:xfrm>
            <a:off x="1737360" y="3803904"/>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Hàm, module và xử lý ngoại lệ</a:t>
            </a:r>
            <a:endParaRPr lang="en-US" sz="1400" dirty="0"/>
          </a:p>
        </p:txBody>
      </p:sp>
      <p:sp>
        <p:nvSpPr>
          <p:cNvPr id="16" name="Text 14"/>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Chương 2 · Nội Dung</a:t>
            </a:r>
            <a:endParaRPr lang="en-US" sz="1000" dirty="0"/>
          </a:p>
        </p:txBody>
      </p:sp>
      <p:sp>
        <p:nvSpPr>
          <p:cNvPr id="17" name="Text 15"/>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2.1 · KIỂU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Kiểu Dữ Liệu Trong Tài Chính</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int: số nguyên — số lượng cổ phiếu, số ngày giao dịch</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float: số thực — giá cổ phiếu, lãi suất, tỷ suất lợi nhuận</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str: chuỗi ký tự — mã cổ phiếu ('VNM'), tên khách hàng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bool: đúng/sai — cờ đánh dấu (vd: da_thanh_toan = True)</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Lưu ý đặc biệt: số thực (float) có thể gây sai số nhỏ khi tính tiền — cần cẩn trọng khi so sánh</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Kiểu Dữ Liệu Trong Tài Chính</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2.1 · THỰC HÀNH</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Ví Dụ Kiểu Dữ Liệu Tài Chính</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ma_co_phieu = "VNM"        # str</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gia_dong_cua = 68500.0       # float (VNĐ)</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so_luong = 100                # int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da_khop_lenh = True           # bool</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gia_tri_giao_dich = gia_dong_cua * so_luong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print(f"{ma_co_phieu}: {so_luong} CP x {gia_dong_cua:,.0f}đ "</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f"= {gia_tri_giao_dich:,.0f}đ")</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type(bien) cho biết kiểu dữ liệu của một biến -- hữu ích khi debug lỗi tính toán.</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Ví Dụ Kiểu Dữ Liệu Tài Chính</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CẤU TRÚC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List và Tuple</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List: dãy có thứ tự, CÓ THỂ thay đổi — phù hợp lưu chuỗi giá đóng cửa theo ngày</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Tuple: dãy có thứ tự, KHÔNG THỂ thay đổi — phù hợp lưu thông tin cố định (mã CP, ngày niêm yết)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Truy cập phần tử bằng chỉ số: gia[0] là phần tử đầu tiên, gia[-1] là phần tử cuối cùng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List hỗ trợ thêm/xóa phần tử (append, remove); Tuple thì không, giúp bảo vệ dữ liệu không đổi</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Cả hai đều hỗ trợ lặp (for), cắt lát (slicing) như gia[0:5]</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List và Tuple</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THỰC HÀNH</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List và Tuple Trong Thực Tế</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gia_dong_cua = [68500, 69000, 68200, 70100, 71500]   # list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thong_tin_cp = ("VNM", "Vinamilk", "HOSE")            # tuple (bất biến)</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gia_dong_cua.append(72000)     # thêm giá ngày mới -- OK với list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print("5 ngày gần nhất:", gia_dong_cua[-5:])</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ma, ten, san = thong_tin_cp    # unpacking tuple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print(f"{ma} ({ten}) niêm yết tại {san}")</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gia_dong_cua[-5:] lấy 5 phần tử cuối -- cú pháp slicing rất hữu ích với dữ liệu chuỗi thời gian.</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List và Tuple Trong Thực Tế</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CẤU TRÚC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Dict và Set</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Dict (dictionary): lưu dữ liệu dạng cặp khóa-giá trị — lý tưởng để lưu thông tin danh mục đầu tư</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Truy cập giá trị qua khóa: danh_muc['VNM'] thay vì phải nhớ vị trí trong list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Set: tập hợp không trùng lặp, không có thứ tự — hữu ích để loại bỏ mã cổ phiếu trùng lặp</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Set hỗ trợ các phép toán tập hợp: giao (&amp;), hợp (|), hiệu (-) — hữu ích so sánh 2 danh mục</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Cả dict và set đều tra cứu (lookup) rất nhanh, phù hợp dữ liệu lớn</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Dict và Set</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THỰC HÀNH</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Dict và Set Trong Thực Tế</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danh_muc = {"VNM": 100, "FPT": 50, "HPG": 200}   # mã CP: số lượng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print(f"Số lượng VNM đang nắm giữ: {danh_muc['VNM']}")</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danh_muc["MWG"] = 30    # thêm mã cổ phiếu mới</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danh_muc_a = {"VNM", "FPT", "HPG"}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danh_muc_b = {"FPT", "HPG", "MWG"}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print("Mã chung 2 danh mục:", danh_muc_a &amp; danh_muc_b)</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danh_muc_a &amp; danh_muc_b cho ra các mã cổ phiếu xuất hiện ở CẢ HAI danh mục.</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Dict và Set Trong Thực Tế</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2.3 · IF / ELIF / ELSE</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Cấu Trúc Điều Kiện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ty_suat_no = 1.8   # tỷ lệ nợ trên vốn chủ sở hữu</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if ty_suat_no &lt; 1.0: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muc_rui_ro = "Thấp"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elif ty_suat_no &lt; 2.0: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muc_rui_ro = "Trung bình"</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else: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muc_rui_ro = "Cao"</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print(f"Tỷ suất nợ {ty_suat_no} -&gt; Mức rủi ro: {muc_rui_ro}")</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Cấu trúc if/elif/else là nền tảng để phân loại rủi ro tín dụng ở Chương 4.</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Cấu Trúc Điều Kiện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2.3 · FOR / WHILE</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Vòng Lặp</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gia_dong_cua = [68500, 69000, 68200, 70100, 71500]</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tong_gia = 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for </a:t>
            </a:r>
            <a:r>
              <a:rPr lang="en-US" sz="1350" dirty="0">
                <a:solidFill>
                  <a:srgbClr val="FF0000"/>
                </a:solidFill>
                <a:latin typeface="Courier New" pitchFamily="34" charset="0"/>
                <a:ea typeface="Courier New" pitchFamily="34" charset="-122"/>
                <a:cs typeface="Courier New" pitchFamily="34" charset="-120"/>
              </a:rPr>
              <a:t>gia</a:t>
            </a:r>
            <a:r>
              <a:rPr lang="en-US" sz="1350" dirty="0">
                <a:solidFill>
                  <a:srgbClr val="E8ECF1"/>
                </a:solidFill>
                <a:latin typeface="Courier New" pitchFamily="34" charset="0"/>
                <a:ea typeface="Courier New" pitchFamily="34" charset="-122"/>
                <a:cs typeface="Courier New" pitchFamily="34" charset="-120"/>
              </a:rPr>
              <a:t> in gia_dong_cua: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tong_gia += gia</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gia_trung_binh = tong_gia / len(gia_dong_cua)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print(f"Giá trung bình 5 ngày: {gia_trung_binh:,.0f}đ")</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Ở Chương 3 ta sẽ thấy Pandas/NumPy làm việc này nhanh hơn nhiều mà không cần viết vòng lặp.</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Vòng Lặp</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ĐÓNG GÓI LOGIC TÁI SỬ DỤNG</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Hàm (Function)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def tinh_lai_kep(von_goc, lai_suat, </a:t>
            </a:r>
            <a:r>
              <a:rPr lang="en-US" sz="1350" dirty="0" err="1">
                <a:solidFill>
                  <a:srgbClr val="0FBFA6"/>
                </a:solidFill>
                <a:latin typeface="Courier New" pitchFamily="34" charset="0"/>
                <a:ea typeface="Courier New" pitchFamily="34" charset="-122"/>
                <a:cs typeface="Courier New" pitchFamily="34" charset="-120"/>
              </a:rPr>
              <a:t>so_nam</a:t>
            </a:r>
            <a:r>
              <a:rPr lang="en-US" sz="1350" dirty="0">
                <a:solidFill>
                  <a:srgbClr val="0FBFA6"/>
                </a:solidFill>
                <a:latin typeface="Courier New" pitchFamily="34" charset="0"/>
                <a:ea typeface="Courier New" pitchFamily="34" charset="-122"/>
                <a:cs typeface="Courier New" pitchFamily="34" charset="-120"/>
              </a:rPr>
              <a: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"""Tính giá trị vốn sau khi hưởng lãi kép."""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von_goc * (1 + lai_suat) ** so_nam</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ket_qua = tinh_lai_kep(100_000_000, 0.07, 10)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print(f"Sau 10 năm: {ket_qua:,.0f}đ")</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Viết thành hàm giúp tái sử dụng công thức này ở bất kỳ đâu trong notebook, không cần chép lại code.</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Hàm (Function)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TỔ CHỨC CODE</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Module</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Module là một file Python (.py) chứa các hàm, biến có thể import và tái sử dụng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Có thể tự viết module riêng (vd: tai_chinh_utils.py) chứa các hàm tính toán tài chính dùng chung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import ten_module rồi gọi ten_module.ten_ham() để sử dụng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Giúp tổ chức dự án lớn thành nhiều file rõ ràng, dễ bảo trì, thay vì một notebook khổng lồ</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Các thư viện như NumPy, Pandas thực chất cũng là các module được cài đặt sẵn</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Module</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TRY / EXCEPT</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Xử Lý Ngoại Lệ (Exception Handling)</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def tinh_ty_suat_loi_nhuan(gia_mua, gia_ban):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try: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(gia_ban - gia_mua) / gia_mua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except ZeroDivisionError:</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print("Lỗi: giá mua bằng 0, không thể tính tỷ suất!")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None</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print(tinh_ty_suat_loi_nhuan(50000, 55000))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print(tinh_ty_suat_loi_nhuan(0, 55000))</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Dữ liệu tài chính thực tế luôn có khả năng lỗi (giá bằng 0, thiếu dữ liệu) -- try/except giúp chương trình không bị dừng đột ngột.</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Xử Lý Ngoại Lệ (Exception Handling)</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List/Dict Comprehension: Viết Code Ngắn Gọn Hơn</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Comprehension cho phép tạo list/dict mới chỉ trong MỘT dòng, thay vì vòng lặp for nhiều dòng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Cú pháp: [biểu_thức for phần_tử in dãy] cho list, {key: value for ...} cho dict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Có thể thêm điều kiện lọc ngay trong comprehension: [x for x in dãy if điều_kiện]</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Được dùng rất phổ biến trong code Python chuyên nghiệp vì ngắn gọn, dễ đọc khi quen</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Với logic phức tạp, vòng lặp for truyền thống vẫn dễ </a:t>
            </a:r>
            <a:r>
              <a:rPr lang="en-US" sz="1550" dirty="0" err="1">
                <a:solidFill>
                  <a:srgbClr val="16192B"/>
                </a:solidFill>
                <a:latin typeface="Arial" pitchFamily="34" charset="0"/>
                <a:ea typeface="Arial" pitchFamily="34" charset="-122"/>
                <a:cs typeface="Arial" pitchFamily="34" charset="-120"/>
              </a:rPr>
              <a:t>đọc</a:t>
            </a:r>
            <a:r>
              <a:rPr lang="en-US" sz="1550" dirty="0">
                <a:solidFill>
                  <a:srgbClr val="16192B"/>
                </a:solidFill>
                <a:latin typeface="Arial" pitchFamily="34" charset="0"/>
                <a:ea typeface="Arial" pitchFamily="34" charset="-122"/>
                <a:cs typeface="Arial" pitchFamily="34" charset="-120"/>
              </a:rPr>
              <a:t> </a:t>
            </a:r>
            <a:r>
              <a:rPr lang="en-US" sz="1550" dirty="0" err="1">
                <a:solidFill>
                  <a:srgbClr val="16192B"/>
                </a:solidFill>
                <a:latin typeface="Arial" pitchFamily="34" charset="0"/>
                <a:ea typeface="Arial" pitchFamily="34" charset="-122"/>
                <a:cs typeface="Arial" pitchFamily="34" charset="-120"/>
              </a:rPr>
              <a:t>hơn</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List/Dict Comprehension: Viết Code Ngắn Gọn Hơn</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2.2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Ví Dụ: List và Dict Comprehension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gia_5_ngay = [68500, 69000, 68200, 70100, 71500]</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List comprehension: quy đổi toàn bộ giá sang USD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gia_usd = [gia / 24500 for gia in gia_5_ngay]</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Có điều kiện lọc</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gia_tren_69000 = [gia for gia in gia_5_ngay if gia &gt; 69000]</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Dict comprehension: ghép 2 list thành dict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ma_cp = ["VNM", "FPT", "HPG"]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danh_muc = {ma: gia for ma, gia in zip(ma_cp, gia_5_ngay[:3])}</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Comprehension thay thế vòng lặp for + append() truyền thống bằng một dòng duy nhất, ngắn gọn hơn nhiều.</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Ví Dụ: List và Dict Comprehension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Hàm Lambda: Hàm Ẩn Danh Dùng Một Lần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danh_sach_cp = [</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{"ma": "VNM", "loi_suat": 0.012},</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{"ma": "FPT", "loi_suat": 0.028},</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{"ma": "HPG", "loi_suat": -0.008},</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lambda làm khóa (key) sắp xếp -- không cần định nghĩa hàm riêng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sap_xep = sorted(danh_sach_cp, key=lambda cp: cp["loi_suat"], reverse=True)</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for cp in sap_xep: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print(f"{cp['ma']}: {cp['loi_suat']:.1%}")</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lambda tạo một hàm nhỏ, không cần đặt tên -- rất tiện khi chỉ dùng một lần làm tiêu chí (vd: sắp xếp, lọc).</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Hàm Lambda: Hàm Ẩn Danh Dùng Một Lần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Lập Trình Hướng Đối Tượng (OOP)</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class cho phép đóng gói DỮ LIỆU (thuộc tính) và HÀNH VI (method) liên quan vào một đối tượng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__init__ là method khởi tạo, tự động chạy khi tạo một đối tượng mới từ class</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self là tham số bắt buộc đầu tiên của mọi method, đại diện cho chính đối tượng đó</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OOP rất phù hợp mô hình hóa các khái niệm tài chính: cổ phiếu, tài khoản, danh mục đầu tư</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Đây là nền tảng để hiểu các thư viện lớn như Pandas, Scikit-learn — vốn được xây dựng hoàn toàn bằng OOP</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Lập Trình Hướng Đối Tượng (OOP)</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Ví Dụ: Class CoPhieu</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class CoPhieu:</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__init__(self, ma_cp, gia_hien_tai):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self.ma_cp = ma_cp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self.gia_hien_tai = gia_hien_tai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self.lich_su_gia = [gia_hien_tai]</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cap_nhat_gia(self, gia_moi):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self.gia_hien_tai = gia_moi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self.lich_su_gia.append(gia_moi)</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tinh_loi_suat(self):</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(self.lich_su_gia[-1] - self.lich_su_gia[-2]) / self.lich_su_gia[-2]</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Mỗi đối tượng CoPhieu tự lưu lịch sử giá và tự tính lợi suất của chính nó -- dữ liệu và logic đi cùng nhau.</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Ví Dụ: Class CoPhieu</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KIẾN TRÚC OOP XUYÊN SUỐT MÔN HỌC</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Từ Một Class Đến Một Kiến Trúc: fintech_lib.py</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Một class đơn lẻ (CoPhieu) chỉ là khởi đầu. Hệ thống FinTech thực tế cần NHIỀU class phối hợp, mỗi class chịu trách nhiệm cho MỘT việc rõ ràng (nguyên tắc Single Responsibility)</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Từ Bài 5 trở đi, </a:t>
            </a:r>
            <a:r>
              <a:rPr lang="en-US" sz="1550" dirty="0" err="1">
                <a:solidFill>
                  <a:srgbClr val="16192B"/>
                </a:solidFill>
                <a:latin typeface="Arial" pitchFamily="34" charset="0"/>
                <a:ea typeface="Arial" pitchFamily="34" charset="-122"/>
                <a:cs typeface="Arial" pitchFamily="34" charset="-120"/>
              </a:rPr>
              <a:t>chúng</a:t>
            </a:r>
            <a:r>
              <a:rPr lang="en-US" sz="1550" dirty="0">
                <a:solidFill>
                  <a:srgbClr val="16192B"/>
                </a:solidFill>
                <a:latin typeface="Arial" pitchFamily="34" charset="0"/>
                <a:ea typeface="Arial" pitchFamily="34" charset="-122"/>
                <a:cs typeface="Arial" pitchFamily="34" charset="-120"/>
              </a:rPr>
              <a:t> ta </a:t>
            </a:r>
            <a:r>
              <a:rPr lang="en-US" sz="1550" dirty="0" err="1">
                <a:solidFill>
                  <a:srgbClr val="16192B"/>
                </a:solidFill>
                <a:latin typeface="Arial" pitchFamily="34" charset="0"/>
                <a:ea typeface="Arial" pitchFamily="34" charset="-122"/>
                <a:cs typeface="Arial" pitchFamily="34" charset="-120"/>
              </a:rPr>
              <a:t>dùng</a:t>
            </a:r>
            <a:r>
              <a:rPr lang="en-US" sz="1550" dirty="0">
                <a:solidFill>
                  <a:srgbClr val="16192B"/>
                </a:solidFill>
                <a:latin typeface="Arial" pitchFamily="34" charset="0"/>
                <a:ea typeface="Arial" pitchFamily="34" charset="-122"/>
                <a:cs typeface="Arial" pitchFamily="34" charset="-120"/>
              </a:rPr>
              <a:t> module dùng chung fintech_lib.py với 5 class cốt lõi, được TÁI SỬ DỤNG xuyên suốt các bài </a:t>
            </a:r>
            <a:r>
              <a:rPr lang="en-US" sz="1550" dirty="0" err="1">
                <a:solidFill>
                  <a:srgbClr val="16192B"/>
                </a:solidFill>
                <a:latin typeface="Arial" pitchFamily="34" charset="0"/>
                <a:ea typeface="Arial" pitchFamily="34" charset="-122"/>
                <a:cs typeface="Arial" pitchFamily="34" charset="-120"/>
              </a:rPr>
              <a:t>thực</a:t>
            </a:r>
            <a:r>
              <a:rPr lang="en-US" sz="1550" dirty="0">
                <a:solidFill>
                  <a:srgbClr val="16192B"/>
                </a:solidFill>
                <a:latin typeface="Arial" pitchFamily="34" charset="0"/>
                <a:ea typeface="Arial" pitchFamily="34" charset="-122"/>
                <a:cs typeface="Arial" pitchFamily="34" charset="-120"/>
              </a:rPr>
              <a:t> </a:t>
            </a:r>
            <a:r>
              <a:rPr lang="en-US" sz="1550" dirty="0" err="1">
                <a:solidFill>
                  <a:srgbClr val="16192B"/>
                </a:solidFill>
                <a:latin typeface="Arial" pitchFamily="34" charset="0"/>
                <a:ea typeface="Arial" pitchFamily="34" charset="-122"/>
                <a:cs typeface="Arial" pitchFamily="34" charset="-120"/>
              </a:rPr>
              <a:t>hành</a:t>
            </a:r>
            <a:endParaRPr lang="en-US" sz="1550" dirty="0">
              <a:solidFill>
                <a:srgbClr val="16192B"/>
              </a:solidFill>
              <a:latin typeface="Arial" pitchFamily="34" charset="0"/>
              <a:ea typeface="Arial" pitchFamily="34" charset="-122"/>
              <a:cs typeface="Arial" pitchFamily="34" charset="-120"/>
            </a:endParaRPr>
          </a:p>
          <a:p>
            <a:pPr marL="342900" indent="-342900" algn="just">
              <a:spcAft>
                <a:spcPts val="1400"/>
              </a:spcAft>
              <a:buSzPct val="100000"/>
              <a:buChar char="•"/>
            </a:pPr>
            <a:r>
              <a:rPr lang="en-US" sz="1550" dirty="0">
                <a:solidFill>
                  <a:srgbClr val="16192B"/>
                </a:solidFill>
                <a:latin typeface="Arial" pitchFamily="34" charset="0"/>
                <a:ea typeface="Arial" pitchFamily="34" charset="-122"/>
                <a:cs typeface="Arial" pitchFamily="34" charset="-120"/>
              </a:rPr>
              <a:t>Portfolio KHÔNG tự tính VaR (đó là việc của RiskModel); Strategy KHÔNG tự chạy backtest (đó là việc của Backtester) — mỗi class độc lập, dễ kiểm thử, dễ thay thế riêng lẻ</a:t>
            </a:r>
            <a:endParaRPr lang="en-US" sz="1550" dirty="0"/>
          </a:p>
          <a:p>
            <a:pPr marL="342900" indent="-342900">
              <a:spcAft>
                <a:spcPts val="1400"/>
              </a:spcAft>
              <a:buSzPct val="100000"/>
              <a:buChar char="•"/>
            </a:pPr>
            <a:r>
              <a:rPr lang="en-US" sz="1550" dirty="0" err="1">
                <a:solidFill>
                  <a:srgbClr val="16192B"/>
                </a:solidFill>
                <a:latin typeface="Arial" pitchFamily="34" charset="0"/>
                <a:ea typeface="Arial" pitchFamily="34" charset="-122"/>
                <a:cs typeface="Arial" pitchFamily="34" charset="-120"/>
              </a:rPr>
              <a:t>Đây</a:t>
            </a:r>
            <a:r>
              <a:rPr lang="en-US" sz="1550" dirty="0">
                <a:solidFill>
                  <a:srgbClr val="16192B"/>
                </a:solidFill>
                <a:latin typeface="Arial" pitchFamily="34" charset="0"/>
                <a:ea typeface="Arial" pitchFamily="34" charset="-122"/>
                <a:cs typeface="Arial" pitchFamily="34" charset="-120"/>
              </a:rPr>
              <a:t> </a:t>
            </a:r>
            <a:r>
              <a:rPr lang="en-US" sz="1550" dirty="0" err="1">
                <a:solidFill>
                  <a:srgbClr val="16192B"/>
                </a:solidFill>
                <a:latin typeface="Arial" pitchFamily="34" charset="0"/>
                <a:ea typeface="Arial" pitchFamily="34" charset="-122"/>
                <a:cs typeface="Arial" pitchFamily="34" charset="-120"/>
              </a:rPr>
              <a:t>là</a:t>
            </a:r>
            <a:r>
              <a:rPr lang="en-US" sz="1550" dirty="0">
                <a:solidFill>
                  <a:srgbClr val="16192B"/>
                </a:solidFill>
                <a:latin typeface="Arial" pitchFamily="34" charset="0"/>
                <a:ea typeface="Arial" pitchFamily="34" charset="-122"/>
                <a:cs typeface="Arial" pitchFamily="34" charset="-120"/>
              </a:rPr>
              <a:t> cách các hệ thống quản lý tài sản, giao dịch thuật toán thực tế được tổ chức</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Từ Một Class Đến Một Kiến Trúc: fintech_lib.py</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KIẾN TRÚC OOP XUYÊN SUỐT MÔN HỌC</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5 Class Cốt Lõi Của fintech_lib.py</a:t>
            </a:r>
            <a:endParaRPr lang="en-US" sz="25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4114800"/>
        </p:xfrm>
        <a:graphic>
          <a:graphicData uri="http://schemas.openxmlformats.org/drawingml/2006/table">
            <a:tbl>
              <a:tblPr/>
              <a:tblGrid>
                <a:gridCol w="32918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685800">
                <a:tc>
                  <a:txBody>
                    <a:bodyPr/>
                    <a:lstStyle/>
                    <a:p>
                      <a:pPr marL="0" indent="0">
                        <a:buNone/>
                      </a:pPr>
                      <a:r>
                        <a:rPr lang="en-US" sz="1250" b="1" dirty="0">
                          <a:solidFill>
                            <a:srgbClr val="FFFFFF"/>
                          </a:solidFill>
                          <a:latin typeface="Arial" pitchFamily="34" charset="0"/>
                          <a:ea typeface="Arial" pitchFamily="34" charset="-122"/>
                          <a:cs typeface="Arial" pitchFamily="34" charset="-120"/>
                        </a:rPr>
                        <a:t>Class</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Trách Nhiệm</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Dùng Ở Bài</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extLst>
                  <a:ext uri="{0D108BD9-81ED-4DB2-BD59-A6C34878D82A}">
                    <a16:rowId xmlns:a16="http://schemas.microsoft.com/office/drawing/2014/main" val="10000"/>
                  </a:ext>
                </a:extLst>
              </a:tr>
              <a:tr h="685800">
                <a:tc>
                  <a:txBody>
                    <a:bodyPr/>
                    <a:lstStyle/>
                    <a:p>
                      <a:pPr marL="0" indent="0">
                        <a:buNone/>
                      </a:pPr>
                      <a:r>
                        <a:rPr lang="en-US" sz="1250" dirty="0">
                          <a:solidFill>
                            <a:srgbClr val="16192B"/>
                          </a:solidFill>
                          <a:latin typeface="Arial" pitchFamily="34" charset="0"/>
                          <a:ea typeface="Arial" pitchFamily="34" charset="-122"/>
                          <a:cs typeface="Arial" pitchFamily="34" charset="-120"/>
                        </a:rPr>
                        <a:t>Instrument / CoPhieu</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Đại diện MỘT tài sản và lịch sử giá của nó</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2, 5</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250" dirty="0">
                          <a:solidFill>
                            <a:srgbClr val="16192B"/>
                          </a:solidFill>
                          <a:latin typeface="Arial" pitchFamily="34" charset="0"/>
                          <a:ea typeface="Arial" pitchFamily="34" charset="-122"/>
                          <a:cs typeface="Arial" pitchFamily="34" charset="-120"/>
                        </a:rPr>
                        <a:t>Portfolio</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Quản lý nhiều Instrument, tối ưu hóa Markowitz</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685800">
                <a:tc>
                  <a:txBody>
                    <a:bodyPr/>
                    <a:lstStyle/>
                    <a:p>
                      <a:pPr marL="0" indent="0">
                        <a:buNone/>
                      </a:pPr>
                      <a:r>
                        <a:rPr lang="en-US" sz="1250" dirty="0">
                          <a:solidFill>
                            <a:srgbClr val="16192B"/>
                          </a:solidFill>
                          <a:latin typeface="Arial" pitchFamily="34" charset="0"/>
                          <a:ea typeface="Arial" pitchFamily="34" charset="-122"/>
                          <a:cs typeface="Arial" pitchFamily="34" charset="-120"/>
                        </a:rPr>
                        <a:t>RiskModel</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VaR, CVaR, GARCH-VaR, backtest, stress test</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250" dirty="0">
                          <a:solidFill>
                            <a:srgbClr val="16192B"/>
                          </a:solidFill>
                          <a:latin typeface="Arial" pitchFamily="34" charset="0"/>
                          <a:ea typeface="Arial" pitchFamily="34" charset="-122"/>
                          <a:cs typeface="Arial" pitchFamily="34" charset="-120"/>
                        </a:rPr>
                        <a:t>Strategy (+ lớp con)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Sinh tín hiệu giao dịch (MA, RSI, tự định nghĩa...)</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685800">
                <a:tc>
                  <a:txBody>
                    <a:bodyPr/>
                    <a:lstStyle/>
                    <a:p>
                      <a:pPr marL="0" indent="0">
                        <a:buNone/>
                      </a:pPr>
                      <a:r>
                        <a:rPr lang="en-US" sz="1250" dirty="0">
                          <a:solidFill>
                            <a:srgbClr val="16192B"/>
                          </a:solidFill>
                          <a:latin typeface="Arial" pitchFamily="34" charset="0"/>
                          <a:ea typeface="Arial" pitchFamily="34" charset="-122"/>
                          <a:cs typeface="Arial" pitchFamily="34" charset="-120"/>
                        </a:rPr>
                        <a:t>Backtester</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Chạy MỘT Strategy bất kỳ, đo hiệu suất có phí giao dịch</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5 Class Cốt Lõi Của fintech_lib.py</a:t>
            </a:r>
            <a:endParaRPr lang="en-US" sz="1000" dirty="0"/>
          </a:p>
        </p:txBody>
      </p:sp>
      <p:sp>
        <p:nvSpPr>
          <p:cNvPr id="6" name="Text 3"/>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2.4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Kế Thừa (Inheritance): Mở Rộng Không Sửa Code Cũ</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class Strategy:                       # lớp cơ sở (abstract)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tao_tin_hieu(self, df_gia):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raise NotImplementedError</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class ChienLuocMA(Strategy):          # lớp con: giao cắt MA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__init__(self, ngan=20, dai=50):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self.ngan, self.dai = ngan, dai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def tao_tin_hieu(self, df_gia):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   # trả về tín hiệu 1/0/-1</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Backtester dùng ĐƯỢC với BẤT KỲ lớp con nào của Strategy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mà không cần sửa một dòng code nào trong Backtester</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Đây là lợi ích cốt lõi của kế thừa: thêm chiến lược giao dịch MỚI chỉ cần viết class mới, không đụng vào code đã hoạt động.</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Kế Thừa (Inheritance): Mở Rộng Không Sửa Code Cũ</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B0342A"/>
                </a:solidFill>
                <a:latin typeface="Arial" pitchFamily="34" charset="0"/>
                <a:ea typeface="Arial" pitchFamily="34" charset="-122"/>
                <a:cs typeface="Arial" pitchFamily="34" charset="-120"/>
              </a:rPr>
              <a:t>2 · LƯU Ý CHƯƠNG 2</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Lưu Ý &amp; Best Practices</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Dùng list khi thứ tự và khả năng thay đổi quan trọng; dùng tuple cho dữ liệu không nên bị sửa</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Dùng dict khi cần tra cứu theo khóa (vd: theo mã cổ phiếu) thay vì theo vị trí trong danh sách</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Luôn thêm docstring ("""...""") cho hàm để người khác (và chính bạn sau này) hiểu hàm làm gì</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Bắt lỗi cụ thể (ZeroDivisionError, KeyError...) thay vì except: chung chung để dễ debug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Với dữ liệu lớn, ưu tiên dùng NumPy/Pandas (Chương 3) thay vì vòng lặp for thuần Python</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Lưu Ý &amp; Best Practices</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3048" y="0"/>
            <a:ext cx="12188952" cy="6858000"/>
          </a:xfrm>
          <a:prstGeom prst="rect">
            <a:avLst/>
          </a:prstGeom>
          <a:solidFill>
            <a:srgbClr val="0B1E3F"/>
          </a:solidFill>
          <a:ln/>
        </p:spPr>
        <p:txBody>
          <a:bodyPr/>
          <a:lstStyle/>
          <a:p>
            <a:endParaRPr lang="fr-FR"/>
          </a:p>
        </p:txBody>
      </p:sp>
      <p:sp>
        <p:nvSpPr>
          <p:cNvPr id="3" name="Text 1"/>
          <p:cNvSpPr/>
          <p:nvPr/>
        </p:nvSpPr>
        <p:spPr>
          <a:xfrm>
            <a:off x="640080" y="548640"/>
            <a:ext cx="7315200" cy="365760"/>
          </a:xfrm>
          <a:prstGeom prst="rect">
            <a:avLst/>
          </a:prstGeom>
          <a:noFill/>
          <a:ln/>
        </p:spPr>
        <p:txBody>
          <a:bodyPr wrap="square" rtlCol="0" anchor="ctr"/>
          <a:lstStyle/>
          <a:p>
            <a:pPr marL="0" indent="0">
              <a:buNone/>
            </a:pPr>
            <a:r>
              <a:rPr lang="en-US" sz="1300" b="1" kern="0" spc="200" dirty="0">
                <a:solidFill>
                  <a:srgbClr val="0FBFA6"/>
                </a:solidFill>
                <a:latin typeface="Arial" pitchFamily="34" charset="0"/>
                <a:ea typeface="Arial" pitchFamily="34" charset="-122"/>
                <a:cs typeface="Arial" pitchFamily="34" charset="-120"/>
              </a:rPr>
              <a:t>TÓM TẮT CHƯƠNG</a:t>
            </a:r>
            <a:endParaRPr lang="en-US" sz="1300" dirty="0"/>
          </a:p>
        </p:txBody>
      </p:sp>
      <p:sp>
        <p:nvSpPr>
          <p:cNvPr id="4" name="Text 2"/>
          <p:cNvSpPr/>
          <p:nvPr/>
        </p:nvSpPr>
        <p:spPr>
          <a:xfrm>
            <a:off x="640080" y="914400"/>
            <a:ext cx="10515600" cy="73152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Tóm Tắt Chương 2</a:t>
            </a:r>
            <a:endParaRPr lang="en-US" sz="2400" dirty="0"/>
          </a:p>
        </p:txBody>
      </p:sp>
      <p:sp>
        <p:nvSpPr>
          <p:cNvPr id="5" name="Shape 3"/>
          <p:cNvSpPr/>
          <p:nvPr/>
        </p:nvSpPr>
        <p:spPr>
          <a:xfrm>
            <a:off x="685800" y="1993392"/>
            <a:ext cx="320040" cy="320040"/>
          </a:xfrm>
          <a:prstGeom prst="ellipse">
            <a:avLst/>
          </a:prstGeom>
          <a:solidFill>
            <a:srgbClr val="0FBFA6"/>
          </a:solidFill>
          <a:ln/>
        </p:spPr>
        <p:txBody>
          <a:bodyPr/>
          <a:lstStyle/>
          <a:p>
            <a:endParaRPr lang="fr-FR"/>
          </a:p>
        </p:txBody>
      </p:sp>
      <p:sp>
        <p:nvSpPr>
          <p:cNvPr id="6" name="Text 4"/>
          <p:cNvSpPr/>
          <p:nvPr/>
        </p:nvSpPr>
        <p:spPr>
          <a:xfrm>
            <a:off x="685800" y="1993392"/>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34440" y="1920240"/>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Kiểu dữ liệu (int, float, str, bool) và cấu trúc dữ liệu (list, tuple, dict, set) là nền tảng biểu diễn dữ liệu tài chính</a:t>
            </a:r>
            <a:endParaRPr lang="en-US" sz="1450" dirty="0"/>
          </a:p>
        </p:txBody>
      </p:sp>
      <p:sp>
        <p:nvSpPr>
          <p:cNvPr id="8" name="Shape 6"/>
          <p:cNvSpPr/>
          <p:nvPr/>
        </p:nvSpPr>
        <p:spPr>
          <a:xfrm>
            <a:off x="685800" y="2834640"/>
            <a:ext cx="320040" cy="320040"/>
          </a:xfrm>
          <a:prstGeom prst="ellipse">
            <a:avLst/>
          </a:prstGeom>
          <a:solidFill>
            <a:srgbClr val="0FBFA6"/>
          </a:solidFill>
          <a:ln/>
        </p:spPr>
        <p:txBody>
          <a:bodyPr/>
          <a:lstStyle/>
          <a:p>
            <a:endParaRPr lang="fr-FR"/>
          </a:p>
        </p:txBody>
      </p:sp>
      <p:sp>
        <p:nvSpPr>
          <p:cNvPr id="9" name="Text 7"/>
          <p:cNvSpPr/>
          <p:nvPr/>
        </p:nvSpPr>
        <p:spPr>
          <a:xfrm>
            <a:off x="685800" y="2834640"/>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234440" y="2761488"/>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Cấu trúc điều kiện và vòng lặp cho phép tự động hóa các quyết định và tính toán lặp lại</a:t>
            </a:r>
            <a:endParaRPr lang="en-US" sz="1450" dirty="0"/>
          </a:p>
        </p:txBody>
      </p:sp>
      <p:sp>
        <p:nvSpPr>
          <p:cNvPr id="11" name="Shape 9"/>
          <p:cNvSpPr/>
          <p:nvPr/>
        </p:nvSpPr>
        <p:spPr>
          <a:xfrm>
            <a:off x="685800" y="3675888"/>
            <a:ext cx="320040" cy="320040"/>
          </a:xfrm>
          <a:prstGeom prst="ellipse">
            <a:avLst/>
          </a:prstGeom>
          <a:solidFill>
            <a:srgbClr val="0FBFA6"/>
          </a:solidFill>
          <a:ln/>
        </p:spPr>
        <p:txBody>
          <a:bodyPr/>
          <a:lstStyle/>
          <a:p>
            <a:endParaRPr lang="fr-FR"/>
          </a:p>
        </p:txBody>
      </p:sp>
      <p:sp>
        <p:nvSpPr>
          <p:cNvPr id="12" name="Text 10"/>
          <p:cNvSpPr/>
          <p:nvPr/>
        </p:nvSpPr>
        <p:spPr>
          <a:xfrm>
            <a:off x="685800" y="3675888"/>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1234440" y="3602736"/>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Hàm giúp đóng gói logic tái sử dụng; try/except giúp chương trình xử lý dữ liệu lỗi một cách an toàn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4347571FEB0048A3B38E39FFBCB815" ma:contentTypeVersion="10" ma:contentTypeDescription="Create a new document." ma:contentTypeScope="" ma:versionID="fda4c89f8bc9e4afa70c6d4e718c5c6d">
  <xsd:schema xmlns:xsd="http://www.w3.org/2001/XMLSchema" xmlns:xs="http://www.w3.org/2001/XMLSchema" xmlns:p="http://schemas.microsoft.com/office/2006/metadata/properties" xmlns:ns2="592260fd-754d-45e3-9353-79e2e021c496" xmlns:ns3="720c40ac-9354-4d5d-9f5b-0503103b53c4" targetNamespace="http://schemas.microsoft.com/office/2006/metadata/properties" ma:root="true" ma:fieldsID="d423ec90fdcfdfd5ba75eab140f4037c" ns2:_="" ns3:_="">
    <xsd:import namespace="592260fd-754d-45e3-9353-79e2e021c496"/>
    <xsd:import namespace="720c40ac-9354-4d5d-9f5b-0503103b53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2260fd-754d-45e3-9353-79e2e021c4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d91ae26-2a01-4c1f-813e-662ea83684b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20c40ac-9354-4d5d-9f5b-0503103b53c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aa88a76-f7ae-42fd-b023-f968d85d552d}" ma:internalName="TaxCatchAll" ma:showField="CatchAllData" ma:web="720c40ac-9354-4d5d-9f5b-0503103b53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92260fd-754d-45e3-9353-79e2e021c496">
      <Terms xmlns="http://schemas.microsoft.com/office/infopath/2007/PartnerControls"/>
    </lcf76f155ced4ddcb4097134ff3c332f>
    <TaxCatchAll xmlns="720c40ac-9354-4d5d-9f5b-0503103b53c4" xsi:nil="true"/>
  </documentManagement>
</p:properties>
</file>

<file path=customXml/itemProps1.xml><?xml version="1.0" encoding="utf-8"?>
<ds:datastoreItem xmlns:ds="http://schemas.openxmlformats.org/officeDocument/2006/customXml" ds:itemID="{23244DAC-7603-4784-B14D-31851CFD1F5C}"/>
</file>

<file path=customXml/itemProps2.xml><?xml version="1.0" encoding="utf-8"?>
<ds:datastoreItem xmlns:ds="http://schemas.openxmlformats.org/officeDocument/2006/customXml" ds:itemID="{CE8DAE51-1D46-44DA-898D-556112EA2976}"/>
</file>

<file path=customXml/itemProps3.xml><?xml version="1.0" encoding="utf-8"?>
<ds:datastoreItem xmlns:ds="http://schemas.openxmlformats.org/officeDocument/2006/customXml" ds:itemID="{628CCC3D-4A24-400B-A2E4-A2C8703A8F1B}"/>
</file>

<file path=docProps/app.xml><?xml version="1.0" encoding="utf-8"?>
<Properties xmlns="http://schemas.openxmlformats.org/officeDocument/2006/extended-properties" xmlns:vt="http://schemas.openxmlformats.org/officeDocument/2006/docPropsVTypes">
  <TotalTime>0</TotalTime>
  <Words>18567</Words>
  <Application>Microsoft Office PowerPoint</Application>
  <PresentationFormat>Widescreen</PresentationFormat>
  <Paragraphs>1776</Paragraphs>
  <Slides>138</Slides>
  <Notes>138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138</vt:i4>
      </vt:variant>
    </vt:vector>
  </HeadingPairs>
  <TitlesOfParts>
    <vt:vector size="14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Nguyễn Hoàng Sang</cp:lastModifiedBy>
  <cp:revision>11</cp:revision>
  <dcterms:created xsi:type="dcterms:W3CDTF">2026-08-08T05:40:35Z</dcterms:created>
  <dcterms:modified xsi:type="dcterms:W3CDTF">2026-08-16T17:25:17Z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0x010100B04347571FEB0048A3B38E39FFBCB815</vt:lpwstr>
  </property>
</Properties>
</file>