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EFCF2-DCB5-1878-11EB-32DF2CA44013}" v="2" dt="2026-10-04T05:08:04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ịnh Nhã Uyên" userId="S::25714931.uyen@student.iuh.edu.vn::70c08430-8937-4f9b-ac38-5faebeadd495" providerId="AD" clId="Web-{8D8EFCF2-DCB5-1878-11EB-32DF2CA44013}"/>
    <pc:docChg chg="modSld">
      <pc:chgData name="Trịnh Nhã Uyên" userId="S::25714931.uyen@student.iuh.edu.vn::70c08430-8937-4f9b-ac38-5faebeadd495" providerId="AD" clId="Web-{8D8EFCF2-DCB5-1878-11EB-32DF2CA44013}" dt="2026-10-04T05:08:04.741" v="1" actId="20577"/>
      <pc:docMkLst>
        <pc:docMk/>
      </pc:docMkLst>
      <pc:sldChg chg="modSp">
        <pc:chgData name="Trịnh Nhã Uyên" userId="S::25714931.uyen@student.iuh.edu.vn::70c08430-8937-4f9b-ac38-5faebeadd495" providerId="AD" clId="Web-{8D8EFCF2-DCB5-1878-11EB-32DF2CA44013}" dt="2026-10-04T05:08:04.741" v="1" actId="20577"/>
        <pc:sldMkLst>
          <pc:docMk/>
          <pc:sldMk cId="0" sldId="267"/>
        </pc:sldMkLst>
        <pc:spChg chg="mod">
          <ac:chgData name="Trịnh Nhã Uyên" userId="S::25714931.uyen@student.iuh.edu.vn::70c08430-8937-4f9b-ac38-5faebeadd495" providerId="AD" clId="Web-{8D8EFCF2-DCB5-1878-11EB-32DF2CA44013}" dt="2026-10-04T05:08:04.741" v="1" actId="20577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62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32A5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TIẾT LÝ THUYẾT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224028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Về Python Và Ứng Dụng Trong Tài Chính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91840" y="342900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quen với Python, môi trường Jupyter Notebook, và bức tranh toàn cảnh về Python trong FinTech.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 · NỘI DUNG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Về Python Và Ứng Dụng Trong Tài Chính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ngôn ngữ lập trình Python và môi trường Jupyter Notebook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881360" cy="5486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4871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của Python trong công nghệ tài chính (FinTech)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0881360" cy="54864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1455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thư viện Python phổ biến trong tài chính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 · Nội Dung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GIỚI THIỆU 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Python Trong Tài Chính?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2026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là ngôn ngữ lập trình cấp cao, cú pháp rõ ràng, dễ đọc — rút ngắn thời gian phát triển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thư viện cực kỳ phong phú cho xử lý dữ liệu, thống kê, và Học máy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các định chế tài chính lớn (ngân hàng, quỹ đầu tư, công ty chứng khoán) sử dụng rộng rãi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đồng lớn, tài liệu phong phú, dễ tìm giải pháp cho vấn đề gặp phải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Miễn phí, mã nguồn mở, chạy đa nền tảng (Windows, macOS, Linux)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Python Trong Tài Chính?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CÔNG CỤ LẬP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 Jupyter Notebook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là môi trường lập trình tương tác, chạy từng ô lệnh (cell) độc lập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loại cell chính: Code cell (chạy code Python) và Markdown cell (văn bản, giải thích, công thức)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(số liệu, bảng, biểu đồ) hiển thị ngay bên dưới cell — rất phù hợp cho phân tích dữ liệu khám phá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lưu lại toàn bộ quá trình phân tích: code, kết quả, và diễn giải trong cùng một file (.ipynb)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công cụ tiêu chuẩn trong ngành khoa học dữ liệu và tài chính định lượng (quant finance)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 Jupyter Notebook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THỰC HÀNH NHANH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Lệnh Đầu Tiên Trong Jupyter Notebook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886200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Đây là một code cell -- nhấn Shift + Enter để chạy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print("Xin chào FinTech!")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có thể tính toán tài chính đơn giản ngay lập tức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gia_von = 100_000_000      # 100 triệu đồng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loi_nhuan = 8_500_000       # 8.5 triệu đồng lợi nhuận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ty_suat_loi_nhuan = loi_nhuan / gia_von</a:t>
            </a:r>
            <a:endParaRPr lang="en-US" sz="1350" dirty="0"/>
          </a:p>
          <a:p>
            <a:r>
              <a:rPr lang="en-US" sz="1350" dirty="0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print(</a:t>
            </a:r>
            <a:r>
              <a:rPr lang="en-US" sz="1350" dirty="0" err="1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f"Tỷ</a:t>
            </a:r>
            <a:r>
              <a:rPr lang="en-US" sz="1350" dirty="0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350" dirty="0" err="1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suất</a:t>
            </a:r>
            <a:r>
              <a:rPr lang="en-US" sz="1350" dirty="0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350" dirty="0" err="1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lợi</a:t>
            </a:r>
            <a:r>
              <a:rPr lang="en-US" sz="1350" dirty="0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350" dirty="0" err="1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nhuận</a:t>
            </a:r>
            <a:r>
              <a:rPr lang="en-US" sz="1350" dirty="0">
                <a:solidFill>
                  <a:srgbClr val="E8ECF1"/>
                </a:solidFill>
                <a:latin typeface="Courier New"/>
                <a:ea typeface="Courier New" pitchFamily="34" charset="-122"/>
                <a:cs typeface="Courier New"/>
              </a:rPr>
              <a:t>: {ty_suat_loi_nhuan:.2%}")</a:t>
            </a:r>
            <a:br>
              <a:rPr lang="en-US" sz="1350" dirty="0">
                <a:latin typeface="Courier New"/>
                <a:ea typeface="Courier New" pitchFamily="34" charset="-122"/>
                <a:cs typeface="Courier New"/>
              </a:rPr>
            </a:b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gạch dưới trong số (100_000_000) chỉ giúp dễ đọc -- Python bỏ qua nó khi tính toán.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Lệnh Đầu Tiên Trong Jupyter Notebook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PYTHON TRONG THỰC TẾ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Của Python Trong FinTech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toán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(Algorithmic Trading):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động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lệnh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lược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(Risk Analysis):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lượng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dụng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 err="1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hiện gian lận (Fraud Detection): dùng Học máy phát hiện giao dịch bất thường theo thời gian thực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và trợ lý ảo tài chính: tự động hóa tư vấn, chăm sóc khách hàng ngân hàng số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và tiền mã hóa: xây dựng và phân tích hợp đồng thông minh, sổ cái phân tán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Robo-advisor: tự động đề xuất và quản lý danh mục đầu tư cá nhân hóa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Của Python Trong FinTech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CASE STUDY NGẮN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Trong Các Lĩnh Vực FinTech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114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Lĩnh Vực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 Của Python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Ngân hàng số (Digital Banking)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Tự động hóa quy trình, phân tích hành vi khách hàng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Quỹ đầu tư &amp; Chứng khoán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Backtesting chiến lược, phân tích định lượng (quant)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Bảo hiểm (InsurTech)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Định giá rủi ro, phát hiện gian lận bảo hiểm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 vay ngang hàng (P2P Lending)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Chấm điểm tín dụng tự động (credit scoring)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Trong Các Lĩnh Vực FinTech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· HỆ SINH THÁI THƯ VIỆN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Thư Viện Python Phổ Biến Trong Tài Chính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16269"/>
              </p:ext>
            </p:extLst>
          </p:nvPr>
        </p:nvGraphicFramePr>
        <p:xfrm>
          <a:off x="724619" y="1691640"/>
          <a:ext cx="10796821" cy="4114800"/>
        </p:xfrm>
        <a:graphic>
          <a:graphicData uri="http://schemas.openxmlformats.org/drawingml/2006/table">
            <a:tbl>
              <a:tblPr/>
              <a:tblGrid>
                <a:gridCol w="3024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Thư Viện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Công Dụng Chính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NumPy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toán số học, xử lý mảng và vector hóa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Xử lý dữ liệu dạng bảng (DataFrame, Series)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Matplotlib / Seaborn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Trực quan hóa dữ liệu dạng biểu đồ tĩnh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Plotly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Trực quan hóa tương tác, xây dựng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yFinance / vnstock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thập dữ liệu chứng khoán quốc tế và Việt Nam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Xây dựng mô hình Học máy (phân loại, hồi quy)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Statsmodels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tích thống kê, chuỗi thời gian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Thư Viện Python Phổ Biến Trong Tài Chính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· BẮT ĐẦU MỘT NOTEBOOK PHÂN TÍCH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Các Thư Viện Thường Dùng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886200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Các thư viện dưới đây sẽ được giới thiệu ở Chương 3, 4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yfinance as yf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sklearn.linear_model import LogisticRegression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print("Đã sẵn sàng cho phân tích tài chính!")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Hầu như mọi notebook phân tích tài chính trong môn học đều bắt đầu bằng các dòng import này.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Các Thư Viện Thường Dùng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LƯU Ý CHƯƠNG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đặt tên biến rõ nghĩa (vd: gia_dong_cua thay vì x) — code tài chính cần dễ kiểm tra lại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Jupyter Notebook theo đúng thứ tự từ trên xuống để tránh lỗi biến chưa được định nghĩa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notebook thường xuyên (Ctrl+S) — mất công sức phân tích do quên lưu là điều đáng tiếc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các thư viện qua </a:t>
            </a:r>
            <a:r>
              <a:rPr lang="en-US" sz="1550" dirty="0">
                <a:solidFill>
                  <a:srgbClr val="16192B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pip install </a:t>
            </a: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import (vd: pip install yfinance)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ghi chú (markdown cell) giải thích ý nghĩa từng bước phân tích, không chỉ viết code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 &amp; Best Practices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85432" y="6446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Python Trong Công Nghệ Tài Chính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CHƯƠNG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Chương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320040" cy="320040"/>
          </a:xfrm>
          <a:prstGeom prst="ellipse">
            <a:avLst/>
          </a:prstGeom>
          <a:solidFill>
            <a:srgbClr val="0FBF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là công cụ tiêu chuẩn trong công nghệ tài chính hiện đại nhờ hệ sinh thái thư viện phong phú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320040" cy="320040"/>
          </a:xfrm>
          <a:prstGeom prst="ellipse">
            <a:avLst/>
          </a:prstGeom>
          <a:solidFill>
            <a:srgbClr val="0FBF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6148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là môi trường lý tưởng để phân tích dữ liệu tài chính theo từng bước, có diễn giải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320040" cy="320040"/>
          </a:xfrm>
          <a:prstGeom prst="ellipse">
            <a:avLst/>
          </a:prstGeom>
          <a:solidFill>
            <a:srgbClr val="0FBF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3675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602736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NumPy, Pandas, Matplotlib/Seaborn/Plotly, yFinance/vnstock, Scikit-learn là bộ công cụ cốt lõi của môn học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4347571FEB0048A3B38E39FFBCB815" ma:contentTypeVersion="10" ma:contentTypeDescription="Create a new document." ma:contentTypeScope="" ma:versionID="fda4c89f8bc9e4afa70c6d4e718c5c6d">
  <xsd:schema xmlns:xsd="http://www.w3.org/2001/XMLSchema" xmlns:xs="http://www.w3.org/2001/XMLSchema" xmlns:p="http://schemas.microsoft.com/office/2006/metadata/properties" xmlns:ns2="592260fd-754d-45e3-9353-79e2e021c496" xmlns:ns3="720c40ac-9354-4d5d-9f5b-0503103b53c4" targetNamespace="http://schemas.microsoft.com/office/2006/metadata/properties" ma:root="true" ma:fieldsID="d423ec90fdcfdfd5ba75eab140f4037c" ns2:_="" ns3:_="">
    <xsd:import namespace="592260fd-754d-45e3-9353-79e2e021c496"/>
    <xsd:import namespace="720c40ac-9354-4d5d-9f5b-0503103b53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2260fd-754d-45e3-9353-79e2e021c4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d91ae26-2a01-4c1f-813e-662ea83684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0c40ac-9354-4d5d-9f5b-0503103b53c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aa88a76-f7ae-42fd-b023-f968d85d552d}" ma:internalName="TaxCatchAll" ma:showField="CatchAllData" ma:web="720c40ac-9354-4d5d-9f5b-0503103b53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2260fd-754d-45e3-9353-79e2e021c496">
      <Terms xmlns="http://schemas.microsoft.com/office/infopath/2007/PartnerControls"/>
    </lcf76f155ced4ddcb4097134ff3c332f>
    <TaxCatchAll xmlns="720c40ac-9354-4d5d-9f5b-0503103b53c4" xsi:nil="true"/>
  </documentManagement>
</p:properties>
</file>

<file path=customXml/itemProps1.xml><?xml version="1.0" encoding="utf-8"?>
<ds:datastoreItem xmlns:ds="http://schemas.openxmlformats.org/officeDocument/2006/customXml" ds:itemID="{0A26E13F-7E8A-407B-B45F-465DF59A9E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1CB87B-DCA6-49FB-8477-C0060EAEC7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2260fd-754d-45e3-9353-79e2e021c496"/>
    <ds:schemaRef ds:uri="720c40ac-9354-4d5d-9f5b-0503103b53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76BB56-F8E8-4D90-9D17-FB019AB46E8A}">
  <ds:schemaRefs>
    <ds:schemaRef ds:uri="http://schemas.microsoft.com/office/2006/metadata/properties"/>
    <ds:schemaRef ds:uri="http://schemas.microsoft.com/office/infopath/2007/PartnerControls"/>
    <ds:schemaRef ds:uri="592260fd-754d-45e3-9353-79e2e021c496"/>
    <ds:schemaRef ds:uri="720c40ac-9354-4d5d-9f5b-0503103b53c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18567</Words>
  <Application>Microsoft Office PowerPoint</Application>
  <PresentationFormat>Widescreen</PresentationFormat>
  <Paragraphs>1776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Hoàng Sang</cp:lastModifiedBy>
  <cp:revision>13</cp:revision>
  <dcterms:created xsi:type="dcterms:W3CDTF">2026-08-08T05:40:35Z</dcterms:created>
  <dcterms:modified xsi:type="dcterms:W3CDTF">2026-10-04T05:08:07Z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0x010100B04347571FEB0048A3B38E39FFBCB815</vt:lpwstr>
  </property>
  <property fmtid="{D5CDD505-2E9C-101B-9397-08002B2CF9AE}" pid="3" name="MediaServiceImageTags">
    <vt:lpwstr/>
  </property>
</Properties>
</file>